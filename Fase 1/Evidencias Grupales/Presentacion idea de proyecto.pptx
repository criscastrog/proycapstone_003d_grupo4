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Space Mono" charset="1" panose="02000509040000020004"/>
      <p:regular r:id="rId17"/>
    </p:embeddedFont>
    <p:embeddedFont>
      <p:font typeface="Space Mono Bold" charset="1" panose="0200080903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65263" y="1028700"/>
            <a:ext cx="6894037" cy="8229600"/>
            <a:chOff x="0" y="0"/>
            <a:chExt cx="1815714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5714" cy="2167467"/>
            </a:xfrm>
            <a:custGeom>
              <a:avLst/>
              <a:gdLst/>
              <a:ahLst/>
              <a:cxnLst/>
              <a:rect r="r" b="b" t="t" l="l"/>
              <a:pathLst>
                <a:path h="2167467" w="1815714">
                  <a:moveTo>
                    <a:pt x="0" y="0"/>
                  </a:moveTo>
                  <a:lnTo>
                    <a:pt x="1815714" y="0"/>
                  </a:lnTo>
                  <a:lnTo>
                    <a:pt x="181571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15714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9546153" cy="8229600"/>
            <a:chOff x="0" y="0"/>
            <a:chExt cx="12728205" cy="10972800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rcRect l="27397" t="0" r="27397" b="0"/>
            <a:stretch>
              <a:fillRect/>
            </a:stretch>
          </p:blipFill>
          <p:spPr>
            <a:xfrm flipH="false" flipV="false">
              <a:off x="0" y="0"/>
              <a:ext cx="12728205" cy="10972800"/>
            </a:xfrm>
            <a:prstGeom prst="rect">
              <a:avLst/>
            </a:prstGeom>
          </p:spPr>
        </p:pic>
      </p:grpSp>
      <p:grpSp>
        <p:nvGrpSpPr>
          <p:cNvPr name="Group 7" id="7"/>
          <p:cNvGrpSpPr/>
          <p:nvPr/>
        </p:nvGrpSpPr>
        <p:grpSpPr>
          <a:xfrm rot="0">
            <a:off x="15596288" y="7593331"/>
            <a:ext cx="1663012" cy="1664969"/>
            <a:chOff x="0" y="0"/>
            <a:chExt cx="578734" cy="5794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8734" cy="579415"/>
            </a:xfrm>
            <a:custGeom>
              <a:avLst/>
              <a:gdLst/>
              <a:ahLst/>
              <a:cxnLst/>
              <a:rect r="r" b="b" t="t" l="l"/>
              <a:pathLst>
                <a:path h="579415" w="578734">
                  <a:moveTo>
                    <a:pt x="0" y="0"/>
                  </a:moveTo>
                  <a:lnTo>
                    <a:pt x="578734" y="0"/>
                  </a:lnTo>
                  <a:lnTo>
                    <a:pt x="578734" y="579415"/>
                  </a:lnTo>
                  <a:lnTo>
                    <a:pt x="0" y="579415"/>
                  </a:lnTo>
                  <a:close/>
                </a:path>
              </a:pathLst>
            </a:custGeom>
            <a:solidFill>
              <a:srgbClr val="000000">
                <a:alpha val="41961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78734" cy="617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099983" y="8004563"/>
            <a:ext cx="655623" cy="842506"/>
          </a:xfrm>
          <a:custGeom>
            <a:avLst/>
            <a:gdLst/>
            <a:ahLst/>
            <a:cxnLst/>
            <a:rect r="r" b="b" t="t" l="l"/>
            <a:pathLst>
              <a:path h="842506" w="655623">
                <a:moveTo>
                  <a:pt x="0" y="0"/>
                </a:moveTo>
                <a:lnTo>
                  <a:pt x="655622" y="0"/>
                </a:lnTo>
                <a:lnTo>
                  <a:pt x="655622" y="842506"/>
                </a:lnTo>
                <a:lnTo>
                  <a:pt x="0" y="8425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107641" y="1633731"/>
            <a:ext cx="3540989" cy="870493"/>
          </a:xfrm>
          <a:custGeom>
            <a:avLst/>
            <a:gdLst/>
            <a:ahLst/>
            <a:cxnLst/>
            <a:rect r="r" b="b" t="t" l="l"/>
            <a:pathLst>
              <a:path h="870493" w="3540989">
                <a:moveTo>
                  <a:pt x="0" y="0"/>
                </a:moveTo>
                <a:lnTo>
                  <a:pt x="3540989" y="0"/>
                </a:lnTo>
                <a:lnTo>
                  <a:pt x="3540989" y="870493"/>
                </a:lnTo>
                <a:lnTo>
                  <a:pt x="0" y="8704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107641" y="3618649"/>
            <a:ext cx="5859353" cy="921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5"/>
              </a:lnSpc>
            </a:pPr>
            <a:r>
              <a:rPr lang="en-US" sz="637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Empleamás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07641" y="5565864"/>
            <a:ext cx="5541111" cy="1218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Plataforma web de empleabilidad para LLConsulting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07641" y="8110729"/>
            <a:ext cx="3656388" cy="90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8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Hector Nahuelpan</a:t>
            </a:r>
          </a:p>
          <a:p>
            <a:pPr algn="l">
              <a:lnSpc>
                <a:spcPts val="2448"/>
              </a:lnSpc>
            </a:pPr>
            <a:r>
              <a:rPr lang="en-US" sz="18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Cristian Castro</a:t>
            </a:r>
          </a:p>
          <a:p>
            <a:pPr algn="l">
              <a:lnSpc>
                <a:spcPts val="2448"/>
              </a:lnSpc>
            </a:pPr>
            <a:r>
              <a:rPr lang="en-US" sz="18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Tomás León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8700" y="1028700"/>
            <a:ext cx="9546153" cy="8229600"/>
            <a:chOff x="0" y="0"/>
            <a:chExt cx="12728205" cy="10972800"/>
          </a:xfrm>
        </p:grpSpPr>
        <p:pic>
          <p:nvPicPr>
            <p:cNvPr name="Picture 16" id="16"/>
            <p:cNvPicPr>
              <a:picLocks noChangeAspect="true"/>
            </p:cNvPicPr>
            <p:nvPr/>
          </p:nvPicPr>
          <p:blipFill>
            <a:blip r:embed="rId6"/>
            <a:srcRect l="11334" t="0" r="11334" b="0"/>
            <a:stretch>
              <a:fillRect/>
            </a:stretch>
          </p:blipFill>
          <p:spPr>
            <a:xfrm flipH="false" flipV="false">
              <a:off x="0" y="0"/>
              <a:ext cx="12728205" cy="109728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25149" y="943762"/>
            <a:ext cx="8440615" cy="8229600"/>
          </a:xfrm>
          <a:custGeom>
            <a:avLst/>
            <a:gdLst/>
            <a:ahLst/>
            <a:cxnLst/>
            <a:rect r="r" b="b" t="t" l="l"/>
            <a:pathLst>
              <a:path h="8229600" w="8440615">
                <a:moveTo>
                  <a:pt x="0" y="0"/>
                </a:moveTo>
                <a:lnTo>
                  <a:pt x="8440615" y="0"/>
                </a:lnTo>
                <a:lnTo>
                  <a:pt x="844061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943762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4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871645" y="4243795"/>
            <a:ext cx="5188590" cy="3259123"/>
            <a:chOff x="0" y="0"/>
            <a:chExt cx="1366542" cy="8583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6542" cy="858370"/>
            </a:xfrm>
            <a:custGeom>
              <a:avLst/>
              <a:gdLst/>
              <a:ahLst/>
              <a:cxnLst/>
              <a:rect r="r" b="b" t="t" l="l"/>
              <a:pathLst>
                <a:path h="858370" w="1366542">
                  <a:moveTo>
                    <a:pt x="0" y="0"/>
                  </a:moveTo>
                  <a:lnTo>
                    <a:pt x="1366542" y="0"/>
                  </a:lnTo>
                  <a:lnTo>
                    <a:pt x="1366542" y="858370"/>
                  </a:lnTo>
                  <a:lnTo>
                    <a:pt x="0" y="85837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66542" cy="896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7764" y="4243795"/>
            <a:ext cx="5188590" cy="3259123"/>
            <a:chOff x="0" y="0"/>
            <a:chExt cx="1366542" cy="8583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66542" cy="858370"/>
            </a:xfrm>
            <a:custGeom>
              <a:avLst/>
              <a:gdLst/>
              <a:ahLst/>
              <a:cxnLst/>
              <a:rect r="r" b="b" t="t" l="l"/>
              <a:pathLst>
                <a:path h="858370" w="1366542">
                  <a:moveTo>
                    <a:pt x="0" y="0"/>
                  </a:moveTo>
                  <a:lnTo>
                    <a:pt x="1366542" y="0"/>
                  </a:lnTo>
                  <a:lnTo>
                    <a:pt x="1366542" y="858370"/>
                  </a:lnTo>
                  <a:lnTo>
                    <a:pt x="0" y="85837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66542" cy="896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549705" y="4243795"/>
            <a:ext cx="5188590" cy="3259123"/>
            <a:chOff x="0" y="0"/>
            <a:chExt cx="1366542" cy="8583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66542" cy="858370"/>
            </a:xfrm>
            <a:custGeom>
              <a:avLst/>
              <a:gdLst/>
              <a:ahLst/>
              <a:cxnLst/>
              <a:rect r="r" b="b" t="t" l="l"/>
              <a:pathLst>
                <a:path h="858370" w="1366542">
                  <a:moveTo>
                    <a:pt x="0" y="0"/>
                  </a:moveTo>
                  <a:lnTo>
                    <a:pt x="1366542" y="0"/>
                  </a:lnTo>
                  <a:lnTo>
                    <a:pt x="1366542" y="858370"/>
                  </a:lnTo>
                  <a:lnTo>
                    <a:pt x="0" y="85837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366542" cy="896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990668" y="4514539"/>
            <a:ext cx="4950546" cy="2057003"/>
            <a:chOff x="0" y="0"/>
            <a:chExt cx="6600728" cy="2742671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130088"/>
              <a:ext cx="6600728" cy="1612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461"/>
                </a:lnSpc>
              </a:pPr>
              <a:r>
                <a:rPr lang="en-US" sz="1893" spc="94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Buscar empleo en Chile exige herramientas, conocimientos y pasos que no siempre están al alcance de todos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28575"/>
              <a:ext cx="6600728" cy="508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400" spc="120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Proceso complejo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35868" y="4528471"/>
            <a:ext cx="4372384" cy="2277214"/>
            <a:chOff x="0" y="0"/>
            <a:chExt cx="5829845" cy="3036286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1423703"/>
              <a:ext cx="5829845" cy="1612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2461"/>
                </a:lnSpc>
                <a:spcBef>
                  <a:spcPct val="0"/>
                </a:spcBef>
              </a:pPr>
              <a:r>
                <a:rPr lang="en-US" sz="1893" spc="94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No existe un acompañamiento claro, paso a paso, para conducir la búsqueda de empleo con éxito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28575"/>
              <a:ext cx="5829845" cy="508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3119"/>
                </a:lnSpc>
                <a:spcBef>
                  <a:spcPct val="0"/>
                </a:spcBef>
              </a:pPr>
              <a:r>
                <a:rPr lang="en-US" sz="2399" spc="119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Sin guia estructurada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702473" y="4466302"/>
            <a:ext cx="4883055" cy="2430663"/>
            <a:chOff x="0" y="0"/>
            <a:chExt cx="6510739" cy="3240884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815501"/>
              <a:ext cx="6510739" cy="24253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2461"/>
                </a:lnSpc>
                <a:spcBef>
                  <a:spcPct val="0"/>
                </a:spcBef>
              </a:pPr>
              <a:r>
                <a:rPr lang="en-US" sz="1893" spc="94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La falta de experiencia de las personas genera CVs y perfiles profesionales incompletos o poco competitivos, recurriendo incluso a mentir en estos para poder resaltar sobre los demás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-28575"/>
              <a:ext cx="6510739" cy="508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3119"/>
                </a:lnSpc>
                <a:spcBef>
                  <a:spcPct val="0"/>
                </a:spcBef>
              </a:pPr>
              <a:r>
                <a:rPr lang="en-US" sz="2399" spc="119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Información incompleta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909918" y="1385400"/>
            <a:ext cx="446816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08D3F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El problema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378701" y="6202823"/>
            <a:ext cx="4780487" cy="2830337"/>
            <a:chOff x="0" y="0"/>
            <a:chExt cx="1259058" cy="7454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9058" cy="745439"/>
            </a:xfrm>
            <a:custGeom>
              <a:avLst/>
              <a:gdLst/>
              <a:ahLst/>
              <a:cxnLst/>
              <a:rect r="r" b="b" t="t" l="l"/>
              <a:pathLst>
                <a:path h="745439" w="1259058">
                  <a:moveTo>
                    <a:pt x="0" y="0"/>
                  </a:moveTo>
                  <a:lnTo>
                    <a:pt x="1259058" y="0"/>
                  </a:lnTo>
                  <a:lnTo>
                    <a:pt x="1259058" y="745439"/>
                  </a:lnTo>
                  <a:lnTo>
                    <a:pt x="0" y="745439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59058" cy="78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>
                      <a:alpha val="49804"/>
                    </a:srgbClr>
                  </a:solidFill>
                  <a:latin typeface="Space Mono"/>
                  <a:ea typeface="Space Mono"/>
                  <a:cs typeface="Space Mono"/>
                  <a:sym typeface="Space Mono"/>
                </a:rPr>
                <a:t>Modulo de contenido:</a:t>
              </a:r>
            </a:p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>
                      <a:alpha val="49804"/>
                    </a:srgbClr>
                  </a:solidFill>
                  <a:latin typeface="Space Mono"/>
                  <a:ea typeface="Space Mono"/>
                  <a:cs typeface="Space Mono"/>
                  <a:sym typeface="Space Mono"/>
                </a:rPr>
                <a:t>Videos, guías y tests 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519055" y="1385400"/>
            <a:ext cx="9249889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8D3F6"/>
                </a:solidFill>
                <a:latin typeface="Space Mono"/>
                <a:ea typeface="Space Mono"/>
                <a:cs typeface="Space Mono"/>
                <a:sym typeface="Space Mono"/>
              </a:rPr>
              <a:t>Propuesta de solución: EmpleaMás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128812" y="6024907"/>
            <a:ext cx="4780487" cy="2830337"/>
            <a:chOff x="0" y="0"/>
            <a:chExt cx="1259058" cy="7454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9058" cy="745439"/>
            </a:xfrm>
            <a:custGeom>
              <a:avLst/>
              <a:gdLst/>
              <a:ahLst/>
              <a:cxnLst/>
              <a:rect r="r" b="b" t="t" l="l"/>
              <a:pathLst>
                <a:path h="745439" w="1259058">
                  <a:moveTo>
                    <a:pt x="0" y="0"/>
                  </a:moveTo>
                  <a:lnTo>
                    <a:pt x="1259058" y="0"/>
                  </a:lnTo>
                  <a:lnTo>
                    <a:pt x="1259058" y="745439"/>
                  </a:lnTo>
                  <a:lnTo>
                    <a:pt x="0" y="745439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59058" cy="78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>
                      <a:alpha val="49804"/>
                    </a:srgbClr>
                  </a:solidFill>
                  <a:latin typeface="Space Mono"/>
                  <a:ea typeface="Space Mono"/>
                  <a:cs typeface="Space Mono"/>
                  <a:sym typeface="Space Mono"/>
                </a:rPr>
                <a:t>Planes de pago escalonados:</a:t>
              </a:r>
            </a:p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>
                      <a:alpha val="49804"/>
                    </a:srgbClr>
                  </a:solidFill>
                  <a:latin typeface="Space Mono"/>
                  <a:ea typeface="Space Mono"/>
                  <a:cs typeface="Space Mono"/>
                  <a:sym typeface="Space Mono"/>
                </a:rPr>
                <a:t>Acceso a módulos según plan contratado por el usuario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378701" y="2726635"/>
            <a:ext cx="4780487" cy="2830337"/>
            <a:chOff x="0" y="0"/>
            <a:chExt cx="1259058" cy="7454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9058" cy="745439"/>
            </a:xfrm>
            <a:custGeom>
              <a:avLst/>
              <a:gdLst/>
              <a:ahLst/>
              <a:cxnLst/>
              <a:rect r="r" b="b" t="t" l="l"/>
              <a:pathLst>
                <a:path h="745439" w="1259058">
                  <a:moveTo>
                    <a:pt x="0" y="0"/>
                  </a:moveTo>
                  <a:lnTo>
                    <a:pt x="1259058" y="0"/>
                  </a:lnTo>
                  <a:lnTo>
                    <a:pt x="1259058" y="745439"/>
                  </a:lnTo>
                  <a:lnTo>
                    <a:pt x="0" y="745439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59058" cy="78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>
                      <a:alpha val="49804"/>
                    </a:srgbClr>
                  </a:solidFill>
                  <a:latin typeface="Space Mono"/>
                  <a:ea typeface="Space Mono"/>
                  <a:cs typeface="Space Mono"/>
                  <a:sym typeface="Space Mono"/>
                </a:rPr>
                <a:t>Perfil profesional digital:</a:t>
              </a:r>
            </a:p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>
                      <a:alpha val="49804"/>
                    </a:srgbClr>
                  </a:solidFill>
                  <a:latin typeface="Space Mono"/>
                  <a:ea typeface="Space Mono"/>
                  <a:cs typeface="Space Mono"/>
                  <a:sym typeface="Space Mono"/>
                </a:rPr>
                <a:t>Generar automaticamente pdf, perfil con link y QR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28812" y="2947500"/>
            <a:ext cx="4780487" cy="2830337"/>
            <a:chOff x="0" y="0"/>
            <a:chExt cx="1259058" cy="74543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9058" cy="745439"/>
            </a:xfrm>
            <a:custGeom>
              <a:avLst/>
              <a:gdLst/>
              <a:ahLst/>
              <a:cxnLst/>
              <a:rect r="r" b="b" t="t" l="l"/>
              <a:pathLst>
                <a:path h="745439" w="1259058">
                  <a:moveTo>
                    <a:pt x="0" y="0"/>
                  </a:moveTo>
                  <a:lnTo>
                    <a:pt x="1259058" y="0"/>
                  </a:lnTo>
                  <a:lnTo>
                    <a:pt x="1259058" y="745439"/>
                  </a:lnTo>
                  <a:lnTo>
                    <a:pt x="0" y="745439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59058" cy="78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>
                      <a:alpha val="49804"/>
                    </a:srgbClr>
                  </a:solidFill>
                  <a:latin typeface="Space Mono"/>
                  <a:ea typeface="Space Mono"/>
                  <a:cs typeface="Space Mono"/>
                  <a:sym typeface="Space Mono"/>
                </a:rPr>
                <a:t>Plataforma web educativa de apoyo para la búsqueda de empleo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7086600" y="3837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772779" y="6178511"/>
            <a:ext cx="6395508" cy="66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General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36921" y="5664353"/>
            <a:ext cx="8911840" cy="224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3"/>
              </a:lnSpc>
            </a:pPr>
            <a:r>
              <a:rPr lang="en-US" sz="21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Desarollar plataforma web que mejore las oportunidades de busqueda de empleo y reinserción laboral de los usuarios mediante contenido y material educativo enfocado en empleabilidad</a:t>
            </a:r>
          </a:p>
          <a:p>
            <a:pPr algn="l">
              <a:lnSpc>
                <a:spcPts val="3633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3362951"/>
            <a:chOff x="0" y="0"/>
            <a:chExt cx="21640800" cy="4483934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2"/>
            <a:srcRect l="0" t="34460" r="0" b="34460"/>
            <a:stretch>
              <a:fillRect/>
            </a:stretch>
          </p:blipFill>
          <p:spPr>
            <a:xfrm flipH="false" flipV="false">
              <a:off x="0" y="0"/>
              <a:ext cx="21640800" cy="4483934"/>
            </a:xfrm>
            <a:prstGeom prst="rect">
              <a:avLst/>
            </a:prstGeom>
          </p:spPr>
        </p:pic>
      </p:grpSp>
      <p:sp>
        <p:nvSpPr>
          <p:cNvPr name="TextBox 9" id="9"/>
          <p:cNvSpPr txBox="true"/>
          <p:nvPr/>
        </p:nvSpPr>
        <p:spPr>
          <a:xfrm rot="0">
            <a:off x="1502369" y="4621173"/>
            <a:ext cx="446816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true">
                <a:solidFill>
                  <a:srgbClr val="08D3F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Objetivo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08539" y="4531131"/>
            <a:ext cx="3625621" cy="612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6"/>
              </a:lnSpc>
            </a:pPr>
            <a:r>
              <a:rPr lang="en-US" sz="454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15+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36442" y="4527409"/>
            <a:ext cx="2215116" cy="61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3"/>
              </a:lnSpc>
            </a:pPr>
            <a:r>
              <a:rPr lang="en-US" sz="4575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7+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33852" y="4527409"/>
            <a:ext cx="2215116" cy="61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3"/>
              </a:lnSpc>
            </a:pPr>
            <a:r>
              <a:rPr lang="en-US" sz="4575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12+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18304" y="5740695"/>
            <a:ext cx="3006093" cy="715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4"/>
              </a:lnSpc>
            </a:pPr>
            <a:r>
              <a:rPr lang="en-US" sz="1638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usuarios registrados a 3 semanas de su lanzamiento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10396" y="5631748"/>
            <a:ext cx="3467208" cy="69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4"/>
              </a:lnSpc>
            </a:pPr>
            <a:r>
              <a:rPr lang="en-US" sz="1647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Modulos de contenido disponibles el momento del lanzamiento oficial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62859" y="5516067"/>
            <a:ext cx="3357102" cy="926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4"/>
              </a:lnSpc>
            </a:pPr>
            <a:r>
              <a:rPr lang="en-US" sz="1647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perfiles profesionales digitales creados a 2 meses del lanzamiento de la web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94942" y="1278521"/>
            <a:ext cx="885415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08D3F6"/>
                </a:solidFill>
                <a:latin typeface="Space Mono"/>
                <a:ea typeface="Space Mono"/>
                <a:cs typeface="Space Mono"/>
                <a:sym typeface="Space Mono"/>
              </a:rPr>
              <a:t>Objetivos especificos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01491" y="4143127"/>
            <a:ext cx="4496499" cy="2881618"/>
            <a:chOff x="0" y="0"/>
            <a:chExt cx="1184263" cy="7589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4263" cy="758945"/>
            </a:xfrm>
            <a:custGeom>
              <a:avLst/>
              <a:gdLst/>
              <a:ahLst/>
              <a:cxnLst/>
              <a:rect r="r" b="b" t="t" l="l"/>
              <a:pathLst>
                <a:path h="758945" w="1184263">
                  <a:moveTo>
                    <a:pt x="0" y="0"/>
                  </a:moveTo>
                  <a:lnTo>
                    <a:pt x="1184263" y="0"/>
                  </a:lnTo>
                  <a:lnTo>
                    <a:pt x="1184263" y="758945"/>
                  </a:lnTo>
                  <a:lnTo>
                    <a:pt x="0" y="758945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84263" cy="797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21914" y="4143127"/>
            <a:ext cx="4644171" cy="2881618"/>
            <a:chOff x="0" y="0"/>
            <a:chExt cx="1223156" cy="7589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23156" cy="758945"/>
            </a:xfrm>
            <a:custGeom>
              <a:avLst/>
              <a:gdLst/>
              <a:ahLst/>
              <a:cxnLst/>
              <a:rect r="r" b="b" t="t" l="l"/>
              <a:pathLst>
                <a:path h="758945" w="1223156">
                  <a:moveTo>
                    <a:pt x="0" y="0"/>
                  </a:moveTo>
                  <a:lnTo>
                    <a:pt x="1223156" y="0"/>
                  </a:lnTo>
                  <a:lnTo>
                    <a:pt x="1223156" y="758945"/>
                  </a:lnTo>
                  <a:lnTo>
                    <a:pt x="0" y="758945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23156" cy="797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22510" y="4143127"/>
            <a:ext cx="4584440" cy="2881618"/>
            <a:chOff x="0" y="0"/>
            <a:chExt cx="1207425" cy="7589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07425" cy="758945"/>
            </a:xfrm>
            <a:custGeom>
              <a:avLst/>
              <a:gdLst/>
              <a:ahLst/>
              <a:cxnLst/>
              <a:rect r="r" b="b" t="t" l="l"/>
              <a:pathLst>
                <a:path h="758945" w="1207425">
                  <a:moveTo>
                    <a:pt x="0" y="0"/>
                  </a:moveTo>
                  <a:lnTo>
                    <a:pt x="1207425" y="0"/>
                  </a:lnTo>
                  <a:lnTo>
                    <a:pt x="1207425" y="758945"/>
                  </a:lnTo>
                  <a:lnTo>
                    <a:pt x="0" y="758945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07425" cy="797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94942" y="1278521"/>
            <a:ext cx="646329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true">
                <a:solidFill>
                  <a:srgbClr val="08D3F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Alcance - Usuario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51636" y="3648108"/>
            <a:ext cx="3576618" cy="366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266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Perfil y registro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15226" y="5015294"/>
            <a:ext cx="4449438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Nombre, correo, telefono, RUN, profesión y area de trabajo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30998" y="5201031"/>
            <a:ext cx="4449438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Guía, videos, tests y entregables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90011" y="5201031"/>
            <a:ext cx="4449438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Generado automáticamente: PDF descargable, links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30998" y="3282671"/>
            <a:ext cx="4426004" cy="717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266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Acceso a módulos de contenido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56781" y="3282671"/>
            <a:ext cx="4315898" cy="717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266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Creación de perfil profesional digital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9175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01491" y="4143127"/>
            <a:ext cx="4496499" cy="2881618"/>
            <a:chOff x="0" y="0"/>
            <a:chExt cx="1184263" cy="7589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4263" cy="758945"/>
            </a:xfrm>
            <a:custGeom>
              <a:avLst/>
              <a:gdLst/>
              <a:ahLst/>
              <a:cxnLst/>
              <a:rect r="r" b="b" t="t" l="l"/>
              <a:pathLst>
                <a:path h="758945" w="1184263">
                  <a:moveTo>
                    <a:pt x="0" y="0"/>
                  </a:moveTo>
                  <a:lnTo>
                    <a:pt x="1184263" y="0"/>
                  </a:lnTo>
                  <a:lnTo>
                    <a:pt x="1184263" y="758945"/>
                  </a:lnTo>
                  <a:lnTo>
                    <a:pt x="0" y="758945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84263" cy="797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21914" y="4143127"/>
            <a:ext cx="4644171" cy="2881618"/>
            <a:chOff x="0" y="0"/>
            <a:chExt cx="1223156" cy="7589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23156" cy="758945"/>
            </a:xfrm>
            <a:custGeom>
              <a:avLst/>
              <a:gdLst/>
              <a:ahLst/>
              <a:cxnLst/>
              <a:rect r="r" b="b" t="t" l="l"/>
              <a:pathLst>
                <a:path h="758945" w="1223156">
                  <a:moveTo>
                    <a:pt x="0" y="0"/>
                  </a:moveTo>
                  <a:lnTo>
                    <a:pt x="1223156" y="0"/>
                  </a:lnTo>
                  <a:lnTo>
                    <a:pt x="1223156" y="758945"/>
                  </a:lnTo>
                  <a:lnTo>
                    <a:pt x="0" y="758945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23156" cy="797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22510" y="4143127"/>
            <a:ext cx="4584440" cy="2881618"/>
            <a:chOff x="0" y="0"/>
            <a:chExt cx="1207425" cy="7589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07425" cy="758945"/>
            </a:xfrm>
            <a:custGeom>
              <a:avLst/>
              <a:gdLst/>
              <a:ahLst/>
              <a:cxnLst/>
              <a:rect r="r" b="b" t="t" l="l"/>
              <a:pathLst>
                <a:path h="758945" w="1207425">
                  <a:moveTo>
                    <a:pt x="0" y="0"/>
                  </a:moveTo>
                  <a:lnTo>
                    <a:pt x="1207425" y="0"/>
                  </a:lnTo>
                  <a:lnTo>
                    <a:pt x="1207425" y="758945"/>
                  </a:lnTo>
                  <a:lnTo>
                    <a:pt x="0" y="758945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07425" cy="797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94942" y="1278521"/>
            <a:ext cx="8759782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true">
                <a:solidFill>
                  <a:srgbClr val="08D3F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Alcance - Administrador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7746" y="3633767"/>
            <a:ext cx="3883987" cy="366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266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Gestión de modulos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15226" y="5015294"/>
            <a:ext cx="4449438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Crear, editar, publicar contenido en la plataforma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30998" y="4643819"/>
            <a:ext cx="4449438" cy="184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Subir videos y tests con alternativas y retroalimentación (qué respuestas estuvieron malas y corregir la respuesta)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90011" y="5201031"/>
            <a:ext cx="4449438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Usuarios registrados, modulos y tests completados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30998" y="3633767"/>
            <a:ext cx="4426004" cy="366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266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Carga de contenido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56781" y="3633767"/>
            <a:ext cx="4315898" cy="36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266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Dashboard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540666" y="4178097"/>
            <a:ext cx="5206668" cy="1930806"/>
          </a:xfrm>
          <a:custGeom>
            <a:avLst/>
            <a:gdLst/>
            <a:ahLst/>
            <a:cxnLst/>
            <a:rect r="r" b="b" t="t" l="l"/>
            <a:pathLst>
              <a:path h="1930806" w="5206668">
                <a:moveTo>
                  <a:pt x="0" y="0"/>
                </a:moveTo>
                <a:lnTo>
                  <a:pt x="5206668" y="0"/>
                </a:lnTo>
                <a:lnTo>
                  <a:pt x="5206668" y="1930806"/>
                </a:lnTo>
                <a:lnTo>
                  <a:pt x="0" y="19308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93590" y="3781506"/>
            <a:ext cx="2585997" cy="2327397"/>
          </a:xfrm>
          <a:custGeom>
            <a:avLst/>
            <a:gdLst/>
            <a:ahLst/>
            <a:cxnLst/>
            <a:rect r="r" b="b" t="t" l="l"/>
            <a:pathLst>
              <a:path h="2327397" w="2585997">
                <a:moveTo>
                  <a:pt x="0" y="0"/>
                </a:moveTo>
                <a:lnTo>
                  <a:pt x="2585997" y="0"/>
                </a:lnTo>
                <a:lnTo>
                  <a:pt x="2585997" y="2327397"/>
                </a:lnTo>
                <a:lnTo>
                  <a:pt x="0" y="23273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340165" y="3160776"/>
            <a:ext cx="3958303" cy="3965448"/>
          </a:xfrm>
          <a:custGeom>
            <a:avLst/>
            <a:gdLst/>
            <a:ahLst/>
            <a:cxnLst/>
            <a:rect r="r" b="b" t="t" l="l"/>
            <a:pathLst>
              <a:path h="3965448" w="3958303">
                <a:moveTo>
                  <a:pt x="0" y="0"/>
                </a:moveTo>
                <a:lnTo>
                  <a:pt x="3958304" y="0"/>
                </a:lnTo>
                <a:lnTo>
                  <a:pt x="3958304" y="3965448"/>
                </a:lnTo>
                <a:lnTo>
                  <a:pt x="0" y="39654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909918" y="1577244"/>
            <a:ext cx="446816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08D3F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TECNOLOGÍAS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36039" y="6369823"/>
            <a:ext cx="2101099" cy="36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2"/>
              </a:lnSpc>
            </a:pPr>
            <a:r>
              <a:rPr lang="en-US" sz="2116" b="true">
                <a:solidFill>
                  <a:srgbClr val="08D3F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REACT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3169" y="2643006"/>
            <a:ext cx="4780487" cy="2830337"/>
            <a:chOff x="0" y="0"/>
            <a:chExt cx="1259058" cy="7454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9058" cy="745439"/>
            </a:xfrm>
            <a:custGeom>
              <a:avLst/>
              <a:gdLst/>
              <a:ahLst/>
              <a:cxnLst/>
              <a:rect r="r" b="b" t="t" l="l"/>
              <a:pathLst>
                <a:path h="745439" w="1259058">
                  <a:moveTo>
                    <a:pt x="0" y="0"/>
                  </a:moveTo>
                  <a:lnTo>
                    <a:pt x="1259058" y="0"/>
                  </a:lnTo>
                  <a:lnTo>
                    <a:pt x="1259058" y="745439"/>
                  </a:lnTo>
                  <a:lnTo>
                    <a:pt x="0" y="745439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59058" cy="78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>
                      <a:alpha val="49804"/>
                    </a:srgbClr>
                  </a:solidFill>
                  <a:latin typeface="Space Mono"/>
                  <a:ea typeface="Space Mono"/>
                  <a:cs typeface="Space Mono"/>
                  <a:sym typeface="Space Mono"/>
                </a:rPr>
                <a:t>Definir y priorizar requisitos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73169" y="6119194"/>
            <a:ext cx="4780487" cy="2830337"/>
            <a:chOff x="0" y="0"/>
            <a:chExt cx="1259058" cy="7454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9058" cy="745439"/>
            </a:xfrm>
            <a:custGeom>
              <a:avLst/>
              <a:gdLst/>
              <a:ahLst/>
              <a:cxnLst/>
              <a:rect r="r" b="b" t="t" l="l"/>
              <a:pathLst>
                <a:path h="745439" w="1259058">
                  <a:moveTo>
                    <a:pt x="0" y="0"/>
                  </a:moveTo>
                  <a:lnTo>
                    <a:pt x="1259058" y="0"/>
                  </a:lnTo>
                  <a:lnTo>
                    <a:pt x="1259058" y="745439"/>
                  </a:lnTo>
                  <a:lnTo>
                    <a:pt x="0" y="745439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59058" cy="78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>
                      <a:alpha val="49804"/>
                    </a:srgbClr>
                  </a:solidFill>
                  <a:latin typeface="Space Mono"/>
                  <a:ea typeface="Space Mono"/>
                  <a:cs typeface="Space Mono"/>
                  <a:sym typeface="Space Mono"/>
                </a:rPr>
                <a:t>Planificar tareas del sprint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97595" y="4373235"/>
            <a:ext cx="4780487" cy="2830337"/>
            <a:chOff x="0" y="0"/>
            <a:chExt cx="1259058" cy="7454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9058" cy="745439"/>
            </a:xfrm>
            <a:custGeom>
              <a:avLst/>
              <a:gdLst/>
              <a:ahLst/>
              <a:cxnLst/>
              <a:rect r="r" b="b" t="t" l="l"/>
              <a:pathLst>
                <a:path h="745439" w="1259058">
                  <a:moveTo>
                    <a:pt x="0" y="0"/>
                  </a:moveTo>
                  <a:lnTo>
                    <a:pt x="1259058" y="0"/>
                  </a:lnTo>
                  <a:lnTo>
                    <a:pt x="1259058" y="745439"/>
                  </a:lnTo>
                  <a:lnTo>
                    <a:pt x="0" y="745439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59058" cy="78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>
                      <a:alpha val="49804"/>
                    </a:srgbClr>
                  </a:solidFill>
                  <a:latin typeface="Space Mono"/>
                  <a:ea typeface="Space Mono"/>
                  <a:cs typeface="Space Mono"/>
                  <a:sym typeface="Space Mono"/>
                </a:rPr>
                <a:t>Desarrollar funcionalidades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59668" y="4373235"/>
            <a:ext cx="4780487" cy="2830337"/>
            <a:chOff x="0" y="0"/>
            <a:chExt cx="1259058" cy="7454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9058" cy="745439"/>
            </a:xfrm>
            <a:custGeom>
              <a:avLst/>
              <a:gdLst/>
              <a:ahLst/>
              <a:cxnLst/>
              <a:rect r="r" b="b" t="t" l="l"/>
              <a:pathLst>
                <a:path h="745439" w="1259058">
                  <a:moveTo>
                    <a:pt x="0" y="0"/>
                  </a:moveTo>
                  <a:lnTo>
                    <a:pt x="1259058" y="0"/>
                  </a:lnTo>
                  <a:lnTo>
                    <a:pt x="1259058" y="745439"/>
                  </a:lnTo>
                  <a:lnTo>
                    <a:pt x="0" y="745439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59058" cy="78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>
                      <a:alpha val="49804"/>
                    </a:srgbClr>
                  </a:solidFill>
                  <a:latin typeface="Space Mono"/>
                  <a:ea typeface="Space Mono"/>
                  <a:cs typeface="Space Mono"/>
                  <a:sym typeface="Space Mono"/>
                </a:rPr>
                <a:t>Probar y revisar avances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996507" y="1246404"/>
            <a:ext cx="2136946" cy="2811771"/>
          </a:xfrm>
          <a:custGeom>
            <a:avLst/>
            <a:gdLst/>
            <a:ahLst/>
            <a:cxnLst/>
            <a:rect r="r" b="b" t="t" l="l"/>
            <a:pathLst>
              <a:path h="2811771" w="2136946">
                <a:moveTo>
                  <a:pt x="0" y="0"/>
                </a:moveTo>
                <a:lnTo>
                  <a:pt x="2136946" y="0"/>
                </a:lnTo>
                <a:lnTo>
                  <a:pt x="2136946" y="2811770"/>
                </a:lnTo>
                <a:lnTo>
                  <a:pt x="0" y="2811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909918" y="1458822"/>
            <a:ext cx="446816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08D3F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METODOLOGÍA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08588" y="2740924"/>
            <a:ext cx="307082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250" b="true">
                <a:solidFill>
                  <a:srgbClr val="08D3F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ENFOQUE SCRUM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114835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70906" y="3696459"/>
            <a:ext cx="7659863" cy="988976"/>
            <a:chOff x="0" y="0"/>
            <a:chExt cx="2017412" cy="2604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7412" cy="260471"/>
            </a:xfrm>
            <a:custGeom>
              <a:avLst/>
              <a:gdLst/>
              <a:ahLst/>
              <a:cxnLst/>
              <a:rect r="r" b="b" t="t" l="l"/>
              <a:pathLst>
                <a:path h="260471" w="2017412">
                  <a:moveTo>
                    <a:pt x="0" y="0"/>
                  </a:moveTo>
                  <a:lnTo>
                    <a:pt x="2017412" y="0"/>
                  </a:lnTo>
                  <a:lnTo>
                    <a:pt x="2017412" y="260471"/>
                  </a:lnTo>
                  <a:lnTo>
                    <a:pt x="0" y="260471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17412" cy="298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>
                      <a:alpha val="49804"/>
                    </a:srgbClr>
                  </a:solidFill>
                  <a:latin typeface="Space Mono"/>
                  <a:ea typeface="Space Mono"/>
                  <a:cs typeface="Space Mono"/>
                  <a:sym typeface="Space Mono"/>
                </a:rPr>
                <a:t>Proyecto con duración de 4 meses y medio de desarrollo.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70906" y="4931701"/>
            <a:ext cx="7659863" cy="970721"/>
            <a:chOff x="0" y="0"/>
            <a:chExt cx="2017412" cy="2556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7412" cy="255663"/>
            </a:xfrm>
            <a:custGeom>
              <a:avLst/>
              <a:gdLst/>
              <a:ahLst/>
              <a:cxnLst/>
              <a:rect r="r" b="b" t="t" l="l"/>
              <a:pathLst>
                <a:path h="255663" w="2017412">
                  <a:moveTo>
                    <a:pt x="0" y="0"/>
                  </a:moveTo>
                  <a:lnTo>
                    <a:pt x="2017412" y="0"/>
                  </a:lnTo>
                  <a:lnTo>
                    <a:pt x="2017412" y="255663"/>
                  </a:lnTo>
                  <a:lnTo>
                    <a:pt x="0" y="255663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17412" cy="2937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>
                      <a:alpha val="49804"/>
                    </a:srgbClr>
                  </a:solidFill>
                  <a:latin typeface="Space Mono"/>
                  <a:ea typeface="Space Mono"/>
                  <a:cs typeface="Space Mono"/>
                  <a:sym typeface="Space Mono"/>
                </a:rPr>
                <a:t>Desarrollo dividido en sprints de 2 semanas.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970906" y="6150071"/>
            <a:ext cx="7659863" cy="970721"/>
            <a:chOff x="0" y="0"/>
            <a:chExt cx="2017412" cy="2556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17412" cy="255663"/>
            </a:xfrm>
            <a:custGeom>
              <a:avLst/>
              <a:gdLst/>
              <a:ahLst/>
              <a:cxnLst/>
              <a:rect r="r" b="b" t="t" l="l"/>
              <a:pathLst>
                <a:path h="255663" w="2017412">
                  <a:moveTo>
                    <a:pt x="0" y="0"/>
                  </a:moveTo>
                  <a:lnTo>
                    <a:pt x="2017412" y="0"/>
                  </a:lnTo>
                  <a:lnTo>
                    <a:pt x="2017412" y="255663"/>
                  </a:lnTo>
                  <a:lnTo>
                    <a:pt x="0" y="255663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17412" cy="2937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>
                      <a:alpha val="49804"/>
                    </a:srgbClr>
                  </a:solidFill>
                  <a:latin typeface="Space Mono"/>
                  <a:ea typeface="Space Mono"/>
                  <a:cs typeface="Space Mono"/>
                  <a:sym typeface="Space Mono"/>
                </a:rPr>
                <a:t>Se definen hitos para progresos importantes durante el desarrollo.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396377" y="3434620"/>
            <a:ext cx="5584342" cy="3964883"/>
          </a:xfrm>
          <a:custGeom>
            <a:avLst/>
            <a:gdLst/>
            <a:ahLst/>
            <a:cxnLst/>
            <a:rect r="r" b="b" t="t" l="l"/>
            <a:pathLst>
              <a:path h="3964883" w="5584342">
                <a:moveTo>
                  <a:pt x="0" y="0"/>
                </a:moveTo>
                <a:lnTo>
                  <a:pt x="5584342" y="0"/>
                </a:lnTo>
                <a:lnTo>
                  <a:pt x="5584342" y="3964882"/>
                </a:lnTo>
                <a:lnTo>
                  <a:pt x="0" y="39648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909918" y="1577244"/>
            <a:ext cx="446816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08D3F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Cronograma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13521" y="3329504"/>
            <a:ext cx="5460957" cy="6205633"/>
          </a:xfrm>
          <a:custGeom>
            <a:avLst/>
            <a:gdLst/>
            <a:ahLst/>
            <a:cxnLst/>
            <a:rect r="r" b="b" t="t" l="l"/>
            <a:pathLst>
              <a:path h="6205633" w="5460957">
                <a:moveTo>
                  <a:pt x="0" y="0"/>
                </a:moveTo>
                <a:lnTo>
                  <a:pt x="5460958" y="0"/>
                </a:lnTo>
                <a:lnTo>
                  <a:pt x="5460958" y="6205633"/>
                </a:lnTo>
                <a:lnTo>
                  <a:pt x="0" y="6205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09918" y="688083"/>
            <a:ext cx="4468164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08D3F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COMENTARIO FINAL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DAHTj16RGmQ</dc:identifier>
  <dcterms:modified xsi:type="dcterms:W3CDTF">2011-08-01T06:04:30Z</dcterms:modified>
  <cp:revision>1</cp:revision>
  <dc:title>Empleamás</dc:title>
</cp:coreProperties>
</file>